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2" r:id="rId6"/>
    <p:sldId id="263" r:id="rId7"/>
    <p:sldId id="264"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32" autoAdjust="0"/>
  </p:normalViewPr>
  <p:slideViewPr>
    <p:cSldViewPr snapToGrid="0">
      <p:cViewPr varScale="1">
        <p:scale>
          <a:sx n="81" d="100"/>
          <a:sy n="81" d="100"/>
        </p:scale>
        <p:origin x="72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CAB08-3354-72DA-57CF-02FCDDF0CA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46D3BA-FBC3-8C61-60F6-B8324BAF19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10F1CF-C8B3-F6BC-670A-1BDAE2572A60}"/>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5" name="Footer Placeholder 4">
            <a:extLst>
              <a:ext uri="{FF2B5EF4-FFF2-40B4-BE49-F238E27FC236}">
                <a16:creationId xmlns:a16="http://schemas.microsoft.com/office/drawing/2014/main" id="{18DB7838-FA34-7E42-6032-82D36675D5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DA957A-7488-29B6-B274-461074108639}"/>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3253082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8EA71-0876-2F3E-D285-2F9F8C8F62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396668-7F34-CD33-0999-DF60060E15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46B932-20C0-CEEA-0934-17EA6CB080EB}"/>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5" name="Footer Placeholder 4">
            <a:extLst>
              <a:ext uri="{FF2B5EF4-FFF2-40B4-BE49-F238E27FC236}">
                <a16:creationId xmlns:a16="http://schemas.microsoft.com/office/drawing/2014/main" id="{F72A4F32-179B-1934-3FB6-F79EFF54B3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B0F25-6F2D-8AED-936F-4066D2325E6E}"/>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1714957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A3E63-F733-9B2D-2F4D-AA1BA092CD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C986BC-BAC8-1AD2-B1FB-88E59E941E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C52580-C439-D741-8804-38F0644937BB}"/>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5" name="Footer Placeholder 4">
            <a:extLst>
              <a:ext uri="{FF2B5EF4-FFF2-40B4-BE49-F238E27FC236}">
                <a16:creationId xmlns:a16="http://schemas.microsoft.com/office/drawing/2014/main" id="{11324EAD-3817-DC1F-AEDB-E9C285E28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4EE85E-3073-B5B9-5CF7-F88E59FCBEFA}"/>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99707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6EFA3-401D-5EAA-5B3F-FE4FB28F52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173FBE-068A-ABDE-6FB3-4BBA1C0622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28CDB7-510E-959D-59DF-105B65AD03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020193-AC4A-1EDB-BFB1-D08EC59A5D98}"/>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6" name="Footer Placeholder 5">
            <a:extLst>
              <a:ext uri="{FF2B5EF4-FFF2-40B4-BE49-F238E27FC236}">
                <a16:creationId xmlns:a16="http://schemas.microsoft.com/office/drawing/2014/main" id="{D8BBB70A-B838-BDB4-4769-066FF7A7F2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1493F1-68A6-EDF7-6DD4-A0C7E54C5571}"/>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4075759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E7CB9-C917-8FD5-B538-4BCFAD5B55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7A3702-61CB-D3A7-C8EE-88EE84C015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E1266A-9537-CD5F-C0E0-45D29F95C7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906B2C-5769-9ADF-6C14-4103A2C17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8B59AA-46BF-66BE-3BB4-B184234594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88ECB1-047C-E729-E3C4-36D53F79120A}"/>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8" name="Footer Placeholder 7">
            <a:extLst>
              <a:ext uri="{FF2B5EF4-FFF2-40B4-BE49-F238E27FC236}">
                <a16:creationId xmlns:a16="http://schemas.microsoft.com/office/drawing/2014/main" id="{55C52BBF-C4B2-3D82-6CE8-2B811372681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6F97BC-ED33-8487-5E5F-0083C5175F3E}"/>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2864862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43B87-715C-303B-BA28-F74B7504F4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8DE90B-3244-7F88-5EBF-8BD747BE2E0E}"/>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4" name="Footer Placeholder 3">
            <a:extLst>
              <a:ext uri="{FF2B5EF4-FFF2-40B4-BE49-F238E27FC236}">
                <a16:creationId xmlns:a16="http://schemas.microsoft.com/office/drawing/2014/main" id="{DDA0BD67-AD98-20E9-84D8-7562E84067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BF9BA5-AE5C-5904-BEA4-DC2C7E5CFBE2}"/>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22782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084A46-CA39-9BCB-175C-65520D5E5609}"/>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3" name="Footer Placeholder 2">
            <a:extLst>
              <a:ext uri="{FF2B5EF4-FFF2-40B4-BE49-F238E27FC236}">
                <a16:creationId xmlns:a16="http://schemas.microsoft.com/office/drawing/2014/main" id="{61422B2F-5FAF-8069-64CF-E494641C86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9108DE-883C-CB93-8381-61A8AFAF8F02}"/>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2863442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88B8C-43BC-AA61-5F5B-195B9F65C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451F49-6BC9-4616-C502-4E7AF8E690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0E120A-ABC0-902E-52DB-0E1329DCD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8FBF39-3C9B-0C0F-26B8-B2716C5E7C80}"/>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6" name="Footer Placeholder 5">
            <a:extLst>
              <a:ext uri="{FF2B5EF4-FFF2-40B4-BE49-F238E27FC236}">
                <a16:creationId xmlns:a16="http://schemas.microsoft.com/office/drawing/2014/main" id="{7D6810EE-B82E-BCC4-FD6A-4D8C0420BC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C786DF-0E3D-20CF-3200-254ADA6428FC}"/>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1972448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E38B6-22B4-BA9D-F155-ADAEDABDA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1AE454-54A3-3664-1FC2-9D28E600D7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333616-78B3-F3B6-3A77-F0F191093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6982C3-FFFD-EF10-3663-2DB23C4C4CD5}"/>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6" name="Footer Placeholder 5">
            <a:extLst>
              <a:ext uri="{FF2B5EF4-FFF2-40B4-BE49-F238E27FC236}">
                <a16:creationId xmlns:a16="http://schemas.microsoft.com/office/drawing/2014/main" id="{BAB5D019-8479-A1F7-596F-3C79705B6E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9FDA15-88B5-3923-21F1-443411633083}"/>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734758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08F65-5CD3-51BF-629A-A696A3AC75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32325B-B308-0371-4308-D726449E1B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403275-70B0-1483-9BF5-92FFEE03B61D}"/>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5" name="Footer Placeholder 4">
            <a:extLst>
              <a:ext uri="{FF2B5EF4-FFF2-40B4-BE49-F238E27FC236}">
                <a16:creationId xmlns:a16="http://schemas.microsoft.com/office/drawing/2014/main" id="{D6277756-B054-AEF7-1ED3-2DFC2B621E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E1D2DF-4865-15C3-2429-92053B2A1E4B}"/>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2432792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B1EABD-BCB5-249C-7769-2E73674D06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0F05FF-EFE6-3EEE-0D6D-E85BE00352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BFD17A-3C86-9E27-D429-36176E5ED19E}"/>
              </a:ext>
            </a:extLst>
          </p:cNvPr>
          <p:cNvSpPr>
            <a:spLocks noGrp="1"/>
          </p:cNvSpPr>
          <p:nvPr>
            <p:ph type="dt" sz="half" idx="10"/>
          </p:nvPr>
        </p:nvSpPr>
        <p:spPr/>
        <p:txBody>
          <a:bodyPr/>
          <a:lstStyle/>
          <a:p>
            <a:fld id="{C0CE4DDA-D6BC-43F3-8956-899C666A7FB4}" type="datetimeFigureOut">
              <a:rPr lang="en-US" smtClean="0"/>
              <a:t>12/5/2025</a:t>
            </a:fld>
            <a:endParaRPr lang="en-US"/>
          </a:p>
        </p:txBody>
      </p:sp>
      <p:sp>
        <p:nvSpPr>
          <p:cNvPr id="5" name="Footer Placeholder 4">
            <a:extLst>
              <a:ext uri="{FF2B5EF4-FFF2-40B4-BE49-F238E27FC236}">
                <a16:creationId xmlns:a16="http://schemas.microsoft.com/office/drawing/2014/main" id="{EB7F6240-8ADD-AF96-3271-BDF205D42D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D9D1CF-AB0A-F661-D24C-45E8B3B26157}"/>
              </a:ext>
            </a:extLst>
          </p:cNvPr>
          <p:cNvSpPr>
            <a:spLocks noGrp="1"/>
          </p:cNvSpPr>
          <p:nvPr>
            <p:ph type="sldNum" sz="quarter" idx="12"/>
          </p:nvPr>
        </p:nvSpPr>
        <p:spPr/>
        <p:txBody>
          <a:bodyPr/>
          <a:lstStyle/>
          <a:p>
            <a:fld id="{1C21E3AE-30B2-4902-8119-268A6A85CB01}" type="slidenum">
              <a:rPr lang="en-US" smtClean="0"/>
              <a:t>‹#›</a:t>
            </a:fld>
            <a:endParaRPr lang="en-US"/>
          </a:p>
        </p:txBody>
      </p:sp>
    </p:spTree>
    <p:extLst>
      <p:ext uri="{BB962C8B-B14F-4D97-AF65-F5344CB8AC3E}">
        <p14:creationId xmlns:p14="http://schemas.microsoft.com/office/powerpoint/2010/main" val="2335907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37CBE9-B5D6-27D6-3936-9B084A59BA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416BE4-AB82-D7AF-5FA1-96DC7036A3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12CBC9-02C2-DC0B-1E68-7F0C63F736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CE4DDA-D6BC-43F3-8956-899C666A7FB4}" type="datetimeFigureOut">
              <a:rPr lang="en-US" smtClean="0"/>
              <a:t>12/5/2025</a:t>
            </a:fld>
            <a:endParaRPr lang="en-US"/>
          </a:p>
        </p:txBody>
      </p:sp>
      <p:sp>
        <p:nvSpPr>
          <p:cNvPr id="5" name="Footer Placeholder 4">
            <a:extLst>
              <a:ext uri="{FF2B5EF4-FFF2-40B4-BE49-F238E27FC236}">
                <a16:creationId xmlns:a16="http://schemas.microsoft.com/office/drawing/2014/main" id="{774525FC-3F93-9C4D-1BB9-FEB13A6BB0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5429B85-A240-9A34-9015-CC40D18A57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21E3AE-30B2-4902-8119-268A6A85CB01}" type="slidenum">
              <a:rPr lang="en-US" smtClean="0"/>
              <a:t>‹#›</a:t>
            </a:fld>
            <a:endParaRPr lang="en-US"/>
          </a:p>
        </p:txBody>
      </p:sp>
    </p:spTree>
    <p:extLst>
      <p:ext uri="{BB962C8B-B14F-4D97-AF65-F5344CB8AC3E}">
        <p14:creationId xmlns:p14="http://schemas.microsoft.com/office/powerpoint/2010/main" val="3466286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A9C71-676C-CEED-FD40-15F0DA3B7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56028-7E72-CE4C-B6D8-B0872D8B8B17}"/>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FD0435C4-2649-FCA9-E31A-7D92646FBD00}"/>
              </a:ext>
            </a:extLst>
          </p:cNvPr>
          <p:cNvSpPr>
            <a:spLocks noGrp="1"/>
          </p:cNvSpPr>
          <p:nvPr>
            <p:ph type="subTitle" idx="1"/>
          </p:nvPr>
        </p:nvSpPr>
        <p:spPr>
          <a:xfrm>
            <a:off x="0" y="877069"/>
            <a:ext cx="12192000" cy="5968919"/>
          </a:xfrm>
        </p:spPr>
        <p:txBody>
          <a:bodyPr>
            <a:normAutofit/>
          </a:bodyPr>
          <a:lstStyle/>
          <a:p>
            <a:pPr algn="l"/>
            <a:r>
              <a:rPr lang="en-US" b="1" dirty="0"/>
              <a:t>1. Overview</a:t>
            </a:r>
          </a:p>
          <a:p>
            <a:pPr algn="l"/>
            <a:r>
              <a:rPr lang="en-US" dirty="0"/>
              <a:t>- </a:t>
            </a:r>
            <a:r>
              <a:rPr lang="en-US" b="1" dirty="0"/>
              <a:t>Goals</a:t>
            </a:r>
            <a:r>
              <a:rPr lang="en-US" dirty="0"/>
              <a:t>: + Analyze the data collected by the HR department (read in </a:t>
            </a:r>
            <a:r>
              <a:rPr lang="en-US" b="1" dirty="0" err="1"/>
              <a:t>report_DA</a:t>
            </a:r>
            <a:r>
              <a:rPr lang="en-US" b="1" dirty="0"/>
              <a:t> </a:t>
            </a:r>
            <a:r>
              <a:rPr lang="en-US" dirty="0"/>
              <a:t>file).</a:t>
            </a:r>
          </a:p>
          <a:p>
            <a:pPr algn="l"/>
            <a:r>
              <a:rPr lang="en-US" dirty="0"/>
              <a:t>              + Build a model that predicts whether or not an employee will leave the company.</a:t>
            </a:r>
          </a:p>
          <a:p>
            <a:pPr algn="l"/>
            <a:r>
              <a:rPr lang="en-US" dirty="0"/>
              <a:t>- </a:t>
            </a:r>
            <a:r>
              <a:rPr lang="en-US" b="1" dirty="0"/>
              <a:t>Stage</a:t>
            </a:r>
            <a:r>
              <a:rPr lang="en-US" dirty="0"/>
              <a:t>: Construct </a:t>
            </a:r>
          </a:p>
          <a:p>
            <a:pPr algn="l"/>
            <a:r>
              <a:rPr lang="en-US" dirty="0"/>
              <a:t>	+ Determine which models are most appropriate</a:t>
            </a:r>
          </a:p>
          <a:p>
            <a:pPr algn="l"/>
            <a:r>
              <a:rPr lang="en-US" dirty="0"/>
              <a:t>	+ Construct the model</a:t>
            </a:r>
          </a:p>
          <a:p>
            <a:pPr algn="l"/>
            <a:r>
              <a:rPr lang="en-US" dirty="0"/>
              <a:t>	+ Confirm model assumptions</a:t>
            </a:r>
          </a:p>
          <a:p>
            <a:pPr algn="l"/>
            <a:r>
              <a:rPr lang="en-US" dirty="0"/>
              <a:t>	+ Evaluate model results to determine how well the model fits the data</a:t>
            </a:r>
          </a:p>
          <a:p>
            <a:pPr algn="l"/>
            <a:r>
              <a:rPr lang="en-US" b="1" dirty="0"/>
              <a:t>- Model:</a:t>
            </a:r>
            <a:r>
              <a:rPr lang="en-US" dirty="0"/>
              <a:t> </a:t>
            </a:r>
          </a:p>
          <a:p>
            <a:pPr algn="l"/>
            <a:r>
              <a:rPr lang="en-US" dirty="0"/>
              <a:t>	+ Logistic regression</a:t>
            </a:r>
          </a:p>
          <a:p>
            <a:pPr algn="l"/>
            <a:r>
              <a:rPr lang="en-US" dirty="0"/>
              <a:t>	+ Decision tree</a:t>
            </a:r>
          </a:p>
          <a:p>
            <a:pPr algn="l"/>
            <a:r>
              <a:rPr lang="en-US" dirty="0"/>
              <a:t>	+ Random forest</a:t>
            </a:r>
          </a:p>
          <a:p>
            <a:pPr algn="l"/>
            <a:r>
              <a:rPr lang="en-US" dirty="0"/>
              <a:t>	+ </a:t>
            </a:r>
            <a:r>
              <a:rPr lang="en-US" dirty="0" err="1"/>
              <a:t>XGBoost</a:t>
            </a:r>
            <a:endParaRPr lang="en-US" dirty="0"/>
          </a:p>
        </p:txBody>
      </p:sp>
    </p:spTree>
    <p:extLst>
      <p:ext uri="{BB962C8B-B14F-4D97-AF65-F5344CB8AC3E}">
        <p14:creationId xmlns:p14="http://schemas.microsoft.com/office/powerpoint/2010/main" val="2761716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B96B4-EC9E-64C5-63FC-460810C5E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6E401-1E11-BA81-BAF5-48E2CFAF40A5}"/>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93D2C534-79A9-9C2F-F7E6-3CDCCBDE6183}"/>
              </a:ext>
            </a:extLst>
          </p:cNvPr>
          <p:cNvSpPr>
            <a:spLocks noGrp="1"/>
          </p:cNvSpPr>
          <p:nvPr>
            <p:ph type="subTitle" idx="1"/>
          </p:nvPr>
        </p:nvSpPr>
        <p:spPr>
          <a:xfrm>
            <a:off x="0" y="877069"/>
            <a:ext cx="12192000" cy="5968919"/>
          </a:xfrm>
        </p:spPr>
        <p:txBody>
          <a:bodyPr>
            <a:normAutofit/>
          </a:bodyPr>
          <a:lstStyle/>
          <a:p>
            <a:pPr algn="l"/>
            <a:r>
              <a:rPr lang="en-US" b="1" dirty="0"/>
              <a:t>2. Transform data</a:t>
            </a:r>
          </a:p>
          <a:p>
            <a:pPr algn="l"/>
            <a:r>
              <a:rPr lang="en-US" b="1" dirty="0"/>
              <a:t>- </a:t>
            </a:r>
            <a:r>
              <a:rPr lang="en-US" dirty="0"/>
              <a:t>There is a chance that there is some data leakage occurring.</a:t>
            </a:r>
          </a:p>
          <a:p>
            <a:pPr algn="l"/>
            <a:r>
              <a:rPr lang="en-US" dirty="0"/>
              <a:t>- The </a:t>
            </a:r>
            <a:r>
              <a:rPr lang="en-US" b="1" dirty="0" err="1"/>
              <a:t>average_monthly_hours</a:t>
            </a:r>
            <a:r>
              <a:rPr lang="en-US" b="1" dirty="0"/>
              <a:t> </a:t>
            </a:r>
            <a:r>
              <a:rPr lang="en-US" dirty="0"/>
              <a:t>column is a source of some </a:t>
            </a:r>
            <a:r>
              <a:rPr lang="en-US" b="1" dirty="0"/>
              <a:t>data leakage</a:t>
            </a:r>
            <a:r>
              <a:rPr lang="en-US" dirty="0"/>
              <a:t>. </a:t>
            </a:r>
          </a:p>
          <a:p>
            <a:pPr algn="l"/>
            <a:r>
              <a:rPr lang="en-US" dirty="0"/>
              <a:t>- If employees have already decided upon </a:t>
            </a:r>
            <a:r>
              <a:rPr lang="en-US" b="1" dirty="0"/>
              <a:t>quitting</a:t>
            </a:r>
            <a:r>
              <a:rPr lang="en-US" dirty="0"/>
              <a:t>, or have already been identified by management as people to be </a:t>
            </a:r>
            <a:r>
              <a:rPr lang="en-US" b="1" dirty="0"/>
              <a:t>fired</a:t>
            </a:r>
            <a:r>
              <a:rPr lang="en-US" dirty="0"/>
              <a:t>, they may be working </a:t>
            </a:r>
            <a:r>
              <a:rPr lang="en-US" b="1" dirty="0"/>
              <a:t>fewer</a:t>
            </a:r>
            <a:r>
              <a:rPr lang="en-US" dirty="0"/>
              <a:t> hours.</a:t>
            </a:r>
          </a:p>
          <a:p>
            <a:pPr algn="l"/>
            <a:r>
              <a:rPr lang="en-US" dirty="0"/>
              <a:t>- As clarified in the </a:t>
            </a:r>
            <a:r>
              <a:rPr lang="en-US" b="1" dirty="0" err="1"/>
              <a:t>report_DA</a:t>
            </a:r>
            <a:r>
              <a:rPr lang="en-US" dirty="0"/>
              <a:t> file, people who work more than </a:t>
            </a:r>
            <a:r>
              <a:rPr lang="en-US" b="1" dirty="0"/>
              <a:t>166.67</a:t>
            </a:r>
            <a:r>
              <a:rPr lang="en-US" dirty="0"/>
              <a:t> hours per month will be </a:t>
            </a:r>
            <a:r>
              <a:rPr lang="en-US" b="1" dirty="0"/>
              <a:t>overworked</a:t>
            </a:r>
            <a:r>
              <a:rPr lang="en-US" dirty="0"/>
              <a:t>, otherwise it will be </a:t>
            </a:r>
            <a:r>
              <a:rPr lang="en-US" b="1" dirty="0"/>
              <a:t>normal</a:t>
            </a:r>
            <a:r>
              <a:rPr lang="en-US" dirty="0"/>
              <a:t>.</a:t>
            </a:r>
          </a:p>
          <a:p>
            <a:pPr marL="342900" indent="-342900" algn="l">
              <a:buFont typeface="Wingdings" panose="05000000000000000000" pitchFamily="2" charset="2"/>
              <a:buChar char="è"/>
            </a:pPr>
            <a:r>
              <a:rPr lang="en-US" dirty="0">
                <a:sym typeface="Wingdings" panose="05000000000000000000" pitchFamily="2" charset="2"/>
              </a:rPr>
              <a:t>Transform </a:t>
            </a:r>
            <a:r>
              <a:rPr lang="en-US" b="1" dirty="0" err="1"/>
              <a:t>average_monthly_hours</a:t>
            </a:r>
            <a:r>
              <a:rPr lang="en-US" b="1" dirty="0"/>
              <a:t> </a:t>
            </a:r>
            <a:r>
              <a:rPr lang="en-US" dirty="0"/>
              <a:t>column to </a:t>
            </a:r>
            <a:r>
              <a:rPr lang="en-US" b="1" dirty="0" err="1"/>
              <a:t>workload_status</a:t>
            </a:r>
            <a:r>
              <a:rPr lang="en-US" b="1" dirty="0"/>
              <a:t> </a:t>
            </a:r>
            <a:r>
              <a:rPr lang="en-US" dirty="0"/>
              <a:t>column. Value &gt;175 = overworked &amp; value &lt;175 = normal.</a:t>
            </a:r>
          </a:p>
          <a:p>
            <a:pPr algn="l"/>
            <a:r>
              <a:rPr lang="en-US" b="1" dirty="0"/>
              <a:t>- </a:t>
            </a:r>
            <a:r>
              <a:rPr lang="en-US" dirty="0"/>
              <a:t>Encoding the categorical features: </a:t>
            </a:r>
            <a:r>
              <a:rPr lang="en-US" dirty="0" err="1"/>
              <a:t>workload_status</a:t>
            </a:r>
            <a:r>
              <a:rPr lang="en-US" dirty="0"/>
              <a:t>, department, salary.</a:t>
            </a:r>
            <a:endParaRPr lang="en-US" b="1" dirty="0"/>
          </a:p>
        </p:txBody>
      </p:sp>
    </p:spTree>
    <p:extLst>
      <p:ext uri="{BB962C8B-B14F-4D97-AF65-F5344CB8AC3E}">
        <p14:creationId xmlns:p14="http://schemas.microsoft.com/office/powerpoint/2010/main" val="271791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FFE7F-7788-1B7B-3F49-5CD5945B30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D2CD2-991D-4624-5507-1FEEDA12DBA7}"/>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24363A37-B925-C23D-B74F-C000C4F89EB9}"/>
              </a:ext>
            </a:extLst>
          </p:cNvPr>
          <p:cNvSpPr>
            <a:spLocks noGrp="1"/>
          </p:cNvSpPr>
          <p:nvPr>
            <p:ph type="subTitle" idx="1"/>
          </p:nvPr>
        </p:nvSpPr>
        <p:spPr>
          <a:xfrm>
            <a:off x="0" y="746449"/>
            <a:ext cx="12192000" cy="6099539"/>
          </a:xfrm>
        </p:spPr>
        <p:txBody>
          <a:bodyPr>
            <a:normAutofit fontScale="92500"/>
          </a:bodyPr>
          <a:lstStyle/>
          <a:p>
            <a:pPr algn="l"/>
            <a:r>
              <a:rPr lang="en-US" b="1" dirty="0"/>
              <a:t>3. Logistic Regression</a:t>
            </a:r>
          </a:p>
          <a:p>
            <a:pPr marL="342900" indent="-342900" algn="l">
              <a:buFontTx/>
              <a:buChar char="-"/>
            </a:pPr>
            <a:r>
              <a:rPr lang="en-US" dirty="0"/>
              <a:t>Assumptions: </a:t>
            </a:r>
          </a:p>
          <a:p>
            <a:pPr algn="l"/>
            <a:r>
              <a:rPr lang="en-US" dirty="0"/>
              <a:t>	 ✅ Pass: Outcome variable is categorical – (0 = stayed, 1 = left)</a:t>
            </a:r>
          </a:p>
          <a:p>
            <a:pPr algn="l"/>
            <a:r>
              <a:rPr lang="en-US" dirty="0"/>
              <a:t>	 ✅ Pass: Observations are independent of each other</a:t>
            </a:r>
          </a:p>
          <a:p>
            <a:pPr algn="l"/>
            <a:r>
              <a:rPr lang="en-US" dirty="0"/>
              <a:t>	(Each record in the dataset represents a unique employee, and there are no repeated measurements or time-series dependencies)</a:t>
            </a:r>
          </a:p>
          <a:p>
            <a:pPr algn="l"/>
            <a:r>
              <a:rPr lang="en-US" dirty="0"/>
              <a:t>	 ✅ Pass: No severe multicollinearity among X variables (Assessed using a correlation matrix)</a:t>
            </a:r>
          </a:p>
          <a:p>
            <a:pPr algn="l"/>
            <a:r>
              <a:rPr lang="en-US" dirty="0"/>
              <a:t>	 ✅ Pass: No extreme outliers – (data cleaned)</a:t>
            </a:r>
          </a:p>
          <a:p>
            <a:pPr algn="l"/>
            <a:r>
              <a:rPr lang="en-US" dirty="0"/>
              <a:t>	 ❌Violate: Linear relationship between each X variable and the logit of the outcome variable</a:t>
            </a:r>
          </a:p>
          <a:p>
            <a:pPr algn="l"/>
            <a:r>
              <a:rPr lang="en-US" dirty="0"/>
              <a:t>(The results showed that most key predictors — including </a:t>
            </a:r>
            <a:r>
              <a:rPr lang="en-US" i="1" dirty="0" err="1"/>
              <a:t>number_project</a:t>
            </a:r>
            <a:r>
              <a:rPr lang="en-US" dirty="0"/>
              <a:t>, </a:t>
            </a:r>
            <a:r>
              <a:rPr lang="en-US" i="1" dirty="0" err="1"/>
              <a:t>average_monthly_hours</a:t>
            </a:r>
            <a:r>
              <a:rPr lang="en-US" dirty="0"/>
              <a:t>, </a:t>
            </a:r>
            <a:r>
              <a:rPr lang="en-US" i="1" dirty="0" err="1"/>
              <a:t>last_evaluation</a:t>
            </a:r>
            <a:r>
              <a:rPr lang="en-US" dirty="0"/>
              <a:t>, </a:t>
            </a:r>
            <a:r>
              <a:rPr lang="en-US" i="1" dirty="0" err="1"/>
              <a:t>time_spend_company</a:t>
            </a:r>
            <a:r>
              <a:rPr lang="en-US" dirty="0"/>
              <a:t>, and </a:t>
            </a:r>
            <a:r>
              <a:rPr lang="en-US" i="1" dirty="0" err="1"/>
              <a:t>satisfaction_level</a:t>
            </a:r>
            <a:r>
              <a:rPr lang="en-US" dirty="0"/>
              <a:t> — have statistically significant p-values (p &lt; 0.05), indicating violations of the linearity assumption. Logistic Regression is sensitive to this requirement, and violation of linearity may reduce its predictive accuracy relative to nonlinear models. The violation of the linearity assumption was acknowledged as a limitation, and more flexible algorithms (Decision Tree, Random Forest, </a:t>
            </a:r>
            <a:r>
              <a:rPr lang="en-US" dirty="0" err="1"/>
              <a:t>XGBoost</a:t>
            </a:r>
            <a:r>
              <a:rPr lang="en-US" dirty="0"/>
              <a:t>) were introduced to capture these nonlinear relationships.)</a:t>
            </a:r>
          </a:p>
          <a:p>
            <a:pPr algn="l"/>
            <a:r>
              <a:rPr lang="en-US" dirty="0"/>
              <a:t>	 ✅ Pass: Sufficiently large sample size (1882 left/ 19 features)</a:t>
            </a:r>
          </a:p>
          <a:p>
            <a:pPr algn="l"/>
            <a:endParaRPr lang="en-US" b="1" dirty="0"/>
          </a:p>
        </p:txBody>
      </p:sp>
    </p:spTree>
    <p:extLst>
      <p:ext uri="{BB962C8B-B14F-4D97-AF65-F5344CB8AC3E}">
        <p14:creationId xmlns:p14="http://schemas.microsoft.com/office/powerpoint/2010/main" val="763837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2F735-3625-843E-E501-2CC17D219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C7762-003D-E50F-3609-7335DF936DA1}"/>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52722E5A-16EB-8FA8-3D0D-93856979825E}"/>
              </a:ext>
            </a:extLst>
          </p:cNvPr>
          <p:cNvSpPr>
            <a:spLocks noGrp="1"/>
          </p:cNvSpPr>
          <p:nvPr>
            <p:ph type="subTitle" idx="1"/>
          </p:nvPr>
        </p:nvSpPr>
        <p:spPr>
          <a:xfrm>
            <a:off x="0" y="746449"/>
            <a:ext cx="12192000" cy="6099539"/>
          </a:xfrm>
        </p:spPr>
        <p:txBody>
          <a:bodyPr>
            <a:normAutofit/>
          </a:bodyPr>
          <a:lstStyle/>
          <a:p>
            <a:pPr algn="l"/>
            <a:r>
              <a:rPr lang="en-US" b="1" dirty="0"/>
              <a:t>3. Logistic Regression</a:t>
            </a:r>
          </a:p>
          <a:p>
            <a:pPr algn="l"/>
            <a:endParaRPr lang="en-US" b="1" dirty="0"/>
          </a:p>
          <a:p>
            <a:pPr algn="l"/>
            <a:r>
              <a:rPr lang="en-US" b="1" dirty="0"/>
              <a:t>- </a:t>
            </a:r>
            <a:r>
              <a:rPr lang="en-US" dirty="0"/>
              <a:t>Split the data (</a:t>
            </a:r>
            <a:r>
              <a:rPr lang="en-US" dirty="0" err="1"/>
              <a:t>test_size</a:t>
            </a:r>
            <a:r>
              <a:rPr lang="en-US" dirty="0"/>
              <a:t>=0.2)</a:t>
            </a:r>
            <a:endParaRPr lang="en-US" b="1" dirty="0"/>
          </a:p>
          <a:p>
            <a:pPr algn="l"/>
            <a:endParaRPr lang="en-US" b="1" dirty="0"/>
          </a:p>
          <a:p>
            <a:pPr algn="l"/>
            <a:r>
              <a:rPr lang="en-US" b="1" dirty="0"/>
              <a:t>- True Positive:</a:t>
            </a:r>
            <a:r>
              <a:rPr lang="en-US" dirty="0"/>
              <a:t> Left &amp; predicted left.</a:t>
            </a:r>
          </a:p>
          <a:p>
            <a:pPr algn="l"/>
            <a:r>
              <a:rPr lang="en-US" b="1" dirty="0"/>
              <a:t>- False Positive:</a:t>
            </a:r>
            <a:r>
              <a:rPr lang="en-US" dirty="0"/>
              <a:t> Stayed but predicted left.</a:t>
            </a:r>
          </a:p>
          <a:p>
            <a:pPr algn="l"/>
            <a:r>
              <a:rPr lang="en-US" b="1" dirty="0"/>
              <a:t>- True Negative:</a:t>
            </a:r>
            <a:r>
              <a:rPr lang="en-US" dirty="0"/>
              <a:t> Stayed &amp; predicted stayed.</a:t>
            </a:r>
          </a:p>
          <a:p>
            <a:pPr algn="l"/>
            <a:r>
              <a:rPr lang="en-US" b="1" dirty="0"/>
              <a:t>- False Negative:</a:t>
            </a:r>
            <a:r>
              <a:rPr lang="en-US" dirty="0"/>
              <a:t> Left but predicted stayed.</a:t>
            </a:r>
          </a:p>
          <a:p>
            <a:pPr algn="l"/>
            <a:endParaRPr lang="en-US" b="1" dirty="0"/>
          </a:p>
          <a:p>
            <a:pPr algn="l"/>
            <a:r>
              <a:rPr lang="en-US" b="1" dirty="0">
                <a:sym typeface="Wingdings" panose="05000000000000000000" pitchFamily="2" charset="2"/>
              </a:rPr>
              <a:t></a:t>
            </a:r>
            <a:r>
              <a:rPr lang="en-US" dirty="0"/>
              <a:t>There is an approximately 83%-17% split. </a:t>
            </a:r>
          </a:p>
          <a:p>
            <a:pPr algn="l"/>
            <a:r>
              <a:rPr lang="en-US" dirty="0"/>
              <a:t>The data is not perfectly balanced, but it is </a:t>
            </a:r>
          </a:p>
          <a:p>
            <a:pPr algn="l"/>
            <a:r>
              <a:rPr lang="en-US" dirty="0"/>
              <a:t>not too imbalanced.</a:t>
            </a:r>
            <a:endParaRPr lang="en-US" b="1" dirty="0"/>
          </a:p>
        </p:txBody>
      </p:sp>
      <p:pic>
        <p:nvPicPr>
          <p:cNvPr id="5" name="Picture 4">
            <a:extLst>
              <a:ext uri="{FF2B5EF4-FFF2-40B4-BE49-F238E27FC236}">
                <a16:creationId xmlns:a16="http://schemas.microsoft.com/office/drawing/2014/main" id="{FBC728FE-5F23-FB7F-DEFE-09E94F7A0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9747" y="746449"/>
            <a:ext cx="6752253" cy="6099538"/>
          </a:xfrm>
          <a:prstGeom prst="rect">
            <a:avLst/>
          </a:prstGeom>
        </p:spPr>
      </p:pic>
    </p:spTree>
    <p:extLst>
      <p:ext uri="{BB962C8B-B14F-4D97-AF65-F5344CB8AC3E}">
        <p14:creationId xmlns:p14="http://schemas.microsoft.com/office/powerpoint/2010/main" val="414884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946AF-2753-B27C-76C1-FFFDF5B5F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7B30D-CF8A-8E8D-EEDA-9117DEB8C128}"/>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3FCE656E-F55F-78B6-6055-8ED9FD44155E}"/>
              </a:ext>
            </a:extLst>
          </p:cNvPr>
          <p:cNvSpPr>
            <a:spLocks noGrp="1"/>
          </p:cNvSpPr>
          <p:nvPr>
            <p:ph type="subTitle" idx="1"/>
          </p:nvPr>
        </p:nvSpPr>
        <p:spPr>
          <a:xfrm>
            <a:off x="0" y="746449"/>
            <a:ext cx="12192000" cy="6099539"/>
          </a:xfrm>
        </p:spPr>
        <p:txBody>
          <a:bodyPr>
            <a:normAutofit/>
          </a:bodyPr>
          <a:lstStyle/>
          <a:p>
            <a:pPr algn="l"/>
            <a:r>
              <a:rPr lang="en-US" b="1" dirty="0"/>
              <a:t>3. Logistic Regression</a:t>
            </a:r>
          </a:p>
          <a:p>
            <a:pPr algn="l"/>
            <a:endParaRPr lang="en-US" dirty="0"/>
          </a:p>
          <a:p>
            <a:pPr algn="l"/>
            <a:endParaRPr lang="en-US" dirty="0"/>
          </a:p>
          <a:p>
            <a:pPr algn="l"/>
            <a:r>
              <a:rPr lang="en-US" dirty="0"/>
              <a:t>- </a:t>
            </a:r>
            <a:r>
              <a:rPr lang="en-US" b="1" dirty="0"/>
              <a:t>Precision</a:t>
            </a:r>
            <a:r>
              <a:rPr lang="en-US" dirty="0"/>
              <a:t>: 0.8, </a:t>
            </a:r>
            <a:r>
              <a:rPr lang="en-US" b="1" dirty="0"/>
              <a:t>Recall</a:t>
            </a:r>
            <a:r>
              <a:rPr lang="en-US" dirty="0"/>
              <a:t>:0.83, </a:t>
            </a:r>
          </a:p>
          <a:p>
            <a:pPr algn="l"/>
            <a:r>
              <a:rPr lang="en-US" b="1" dirty="0"/>
              <a:t>f1-score</a:t>
            </a:r>
            <a:r>
              <a:rPr lang="en-US" dirty="0"/>
              <a:t>: 0.81 (all weighted averages),</a:t>
            </a:r>
          </a:p>
          <a:p>
            <a:pPr algn="l"/>
            <a:r>
              <a:rPr lang="en-US" b="1" dirty="0"/>
              <a:t>Accuracy</a:t>
            </a:r>
            <a:r>
              <a:rPr lang="en-US" dirty="0"/>
              <a:t>: 0.83</a:t>
            </a:r>
          </a:p>
          <a:p>
            <a:pPr marL="342900" indent="-342900" algn="l">
              <a:buFont typeface="Wingdings" panose="05000000000000000000" pitchFamily="2" charset="2"/>
              <a:buChar char="è"/>
            </a:pPr>
            <a:r>
              <a:rPr lang="en-US" dirty="0">
                <a:sym typeface="Wingdings" panose="05000000000000000000" pitchFamily="2" charset="2"/>
              </a:rPr>
              <a:t>It’s important to predict who leave, so</a:t>
            </a:r>
          </a:p>
          <a:p>
            <a:pPr algn="l"/>
            <a:r>
              <a:rPr lang="en-US" dirty="0">
                <a:sym typeface="Wingdings" panose="05000000000000000000" pitchFamily="2" charset="2"/>
              </a:rPr>
              <a:t>the scores are significantly </a:t>
            </a:r>
            <a:r>
              <a:rPr lang="en-US" b="1" dirty="0">
                <a:sym typeface="Wingdings" panose="05000000000000000000" pitchFamily="2" charset="2"/>
              </a:rPr>
              <a:t>lower</a:t>
            </a:r>
            <a:r>
              <a:rPr lang="en-US" dirty="0">
                <a:sym typeface="Wingdings" panose="05000000000000000000" pitchFamily="2" charset="2"/>
              </a:rPr>
              <a:t>.</a:t>
            </a:r>
            <a:endParaRPr lang="en-US" dirty="0"/>
          </a:p>
        </p:txBody>
      </p:sp>
      <p:pic>
        <p:nvPicPr>
          <p:cNvPr id="7" name="Picture 6">
            <a:extLst>
              <a:ext uri="{FF2B5EF4-FFF2-40B4-BE49-F238E27FC236}">
                <a16:creationId xmlns:a16="http://schemas.microsoft.com/office/drawing/2014/main" id="{D633985A-1941-C186-1DB4-47216D51C2E7}"/>
              </a:ext>
            </a:extLst>
          </p:cNvPr>
          <p:cNvPicPr>
            <a:picLocks noChangeAspect="1"/>
          </p:cNvPicPr>
          <p:nvPr/>
        </p:nvPicPr>
        <p:blipFill>
          <a:blip r:embed="rId2"/>
          <a:stretch>
            <a:fillRect/>
          </a:stretch>
        </p:blipFill>
        <p:spPr>
          <a:xfrm>
            <a:off x="5187821" y="957141"/>
            <a:ext cx="7004180" cy="5888847"/>
          </a:xfrm>
          <a:prstGeom prst="rect">
            <a:avLst/>
          </a:prstGeom>
        </p:spPr>
      </p:pic>
    </p:spTree>
    <p:extLst>
      <p:ext uri="{BB962C8B-B14F-4D97-AF65-F5344CB8AC3E}">
        <p14:creationId xmlns:p14="http://schemas.microsoft.com/office/powerpoint/2010/main" val="4238843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8E1F6-7D53-9526-DDE2-672AD7F7D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C2B30-8530-2B7C-72D7-56F3CE702B82}"/>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D4A3C7C5-14CD-B7B6-C088-8C75861DEAD3}"/>
              </a:ext>
            </a:extLst>
          </p:cNvPr>
          <p:cNvSpPr>
            <a:spLocks noGrp="1"/>
          </p:cNvSpPr>
          <p:nvPr>
            <p:ph type="subTitle" idx="1"/>
          </p:nvPr>
        </p:nvSpPr>
        <p:spPr>
          <a:xfrm>
            <a:off x="0" y="746449"/>
            <a:ext cx="12192000" cy="6099539"/>
          </a:xfrm>
        </p:spPr>
        <p:txBody>
          <a:bodyPr>
            <a:normAutofit/>
          </a:bodyPr>
          <a:lstStyle/>
          <a:p>
            <a:pPr algn="l"/>
            <a:r>
              <a:rPr lang="en-US" b="1" dirty="0"/>
              <a:t>4. Decision Tree</a:t>
            </a:r>
          </a:p>
          <a:p>
            <a:pPr algn="l"/>
            <a:r>
              <a:rPr lang="en-US" dirty="0"/>
              <a:t>- Split the data (</a:t>
            </a:r>
            <a:r>
              <a:rPr lang="en-US" dirty="0" err="1"/>
              <a:t>test_size</a:t>
            </a:r>
            <a:r>
              <a:rPr lang="en-US" dirty="0"/>
              <a:t>=0.2)</a:t>
            </a:r>
          </a:p>
          <a:p>
            <a:pPr algn="l"/>
            <a:r>
              <a:rPr lang="en-US" dirty="0"/>
              <a:t>- Param = </a:t>
            </a:r>
            <a:r>
              <a:rPr lang="en-US" dirty="0" err="1"/>
              <a:t>max_depth</a:t>
            </a:r>
            <a:r>
              <a:rPr lang="en-US" dirty="0"/>
              <a:t>: [4, 6, 8, None], </a:t>
            </a:r>
            <a:r>
              <a:rPr lang="en-US" dirty="0" err="1"/>
              <a:t>min_samples_split</a:t>
            </a:r>
            <a:r>
              <a:rPr lang="en-US" dirty="0"/>
              <a:t>: [2, 4, 6], </a:t>
            </a:r>
            <a:r>
              <a:rPr lang="da-DK" dirty="0"/>
              <a:t>min_samples_leaf: [1, 2, 4]</a:t>
            </a:r>
          </a:p>
          <a:p>
            <a:pPr algn="l"/>
            <a:r>
              <a:rPr lang="en-US" dirty="0"/>
              <a:t>- Cross-validation = 5</a:t>
            </a:r>
          </a:p>
          <a:p>
            <a:pPr algn="l"/>
            <a:r>
              <a:rPr lang="en-US" dirty="0"/>
              <a:t>- Refit = </a:t>
            </a:r>
            <a:r>
              <a:rPr lang="en-US" dirty="0" err="1"/>
              <a:t>roc_auc</a:t>
            </a:r>
            <a:endParaRPr lang="en-US" dirty="0"/>
          </a:p>
          <a:p>
            <a:pPr marL="342900" indent="-342900" algn="l">
              <a:buFont typeface="Wingdings" panose="05000000000000000000" pitchFamily="2" charset="2"/>
              <a:buChar char="è"/>
            </a:pPr>
            <a:endParaRPr lang="en-US" dirty="0">
              <a:sym typeface="Wingdings" panose="05000000000000000000" pitchFamily="2" charset="2"/>
            </a:endParaRPr>
          </a:p>
          <a:p>
            <a:pPr marL="342900" indent="-342900" algn="l">
              <a:buFont typeface="Wingdings" panose="05000000000000000000" pitchFamily="2" charset="2"/>
              <a:buChar char="è"/>
            </a:pPr>
            <a:endParaRPr lang="en-US" dirty="0">
              <a:sym typeface="Wingdings" panose="05000000000000000000" pitchFamily="2" charset="2"/>
            </a:endParaRPr>
          </a:p>
          <a:p>
            <a:pPr algn="l"/>
            <a:endParaRPr lang="en-US" dirty="0">
              <a:sym typeface="Wingdings" panose="05000000000000000000" pitchFamily="2" charset="2"/>
            </a:endParaRPr>
          </a:p>
          <a:p>
            <a:pPr marL="342900" indent="-342900" algn="l">
              <a:buFont typeface="Wingdings" panose="05000000000000000000" pitchFamily="2" charset="2"/>
              <a:buChar char="è"/>
            </a:pPr>
            <a:r>
              <a:rPr lang="en-US" dirty="0">
                <a:sym typeface="Wingdings" panose="05000000000000000000" pitchFamily="2" charset="2"/>
              </a:rPr>
              <a:t>✅ All of these scores are strong indicators of good model performance.</a:t>
            </a:r>
          </a:p>
          <a:p>
            <a:pPr marL="342900" indent="-342900" algn="l">
              <a:buFont typeface="Wingdings" panose="05000000000000000000" pitchFamily="2" charset="2"/>
              <a:buChar char="è"/>
            </a:pPr>
            <a:r>
              <a:rPr lang="en-US" b="1" dirty="0">
                <a:sym typeface="Wingdings" panose="05000000000000000000" pitchFamily="2" charset="2"/>
              </a:rPr>
              <a:t> </a:t>
            </a:r>
            <a:r>
              <a:rPr lang="en-US" dirty="0">
                <a:highlight>
                  <a:srgbClr val="FFFF00"/>
                </a:highlight>
              </a:rPr>
              <a:t>⚠</a:t>
            </a:r>
            <a:r>
              <a:rPr lang="en-US" dirty="0"/>
              <a:t>  Decision trees can be vulnerable to overfitting.</a:t>
            </a:r>
          </a:p>
          <a:p>
            <a:pPr marL="342900" indent="-342900" algn="l">
              <a:buFont typeface="Wingdings" panose="05000000000000000000" pitchFamily="2" charset="2"/>
              <a:buChar char="è"/>
            </a:pPr>
            <a:r>
              <a:rPr lang="en-US" dirty="0"/>
              <a:t>⭐ Random forests avoid overfitting by incorporating multiple trees to make predictions.</a:t>
            </a:r>
            <a:endParaRPr lang="en-US" b="1" dirty="0">
              <a:highlight>
                <a:srgbClr val="FFFF00"/>
              </a:highlight>
            </a:endParaRPr>
          </a:p>
        </p:txBody>
      </p:sp>
      <p:pic>
        <p:nvPicPr>
          <p:cNvPr id="5" name="Picture 4">
            <a:extLst>
              <a:ext uri="{FF2B5EF4-FFF2-40B4-BE49-F238E27FC236}">
                <a16:creationId xmlns:a16="http://schemas.microsoft.com/office/drawing/2014/main" id="{9D2F96BD-1A95-5C86-294A-B4C57EE57E38}"/>
              </a:ext>
            </a:extLst>
          </p:cNvPr>
          <p:cNvPicPr>
            <a:picLocks noChangeAspect="1"/>
          </p:cNvPicPr>
          <p:nvPr/>
        </p:nvPicPr>
        <p:blipFill>
          <a:blip r:embed="rId2"/>
          <a:stretch>
            <a:fillRect/>
          </a:stretch>
        </p:blipFill>
        <p:spPr>
          <a:xfrm>
            <a:off x="3949831" y="2325635"/>
            <a:ext cx="8242169" cy="1699609"/>
          </a:xfrm>
          <a:prstGeom prst="rect">
            <a:avLst/>
          </a:prstGeom>
        </p:spPr>
      </p:pic>
    </p:spTree>
    <p:extLst>
      <p:ext uri="{BB962C8B-B14F-4D97-AF65-F5344CB8AC3E}">
        <p14:creationId xmlns:p14="http://schemas.microsoft.com/office/powerpoint/2010/main" val="573754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CFB9B-9F20-F1B8-7A04-527A791A6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83F38-1C56-02BD-E3E9-B37D044E2460}"/>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3DF3344A-1493-BE98-E073-E2754030BA34}"/>
              </a:ext>
            </a:extLst>
          </p:cNvPr>
          <p:cNvSpPr>
            <a:spLocks noGrp="1"/>
          </p:cNvSpPr>
          <p:nvPr>
            <p:ph type="subTitle" idx="1"/>
          </p:nvPr>
        </p:nvSpPr>
        <p:spPr>
          <a:xfrm>
            <a:off x="0" y="746449"/>
            <a:ext cx="12192000" cy="6099539"/>
          </a:xfrm>
        </p:spPr>
        <p:txBody>
          <a:bodyPr>
            <a:normAutofit/>
          </a:bodyPr>
          <a:lstStyle/>
          <a:p>
            <a:pPr algn="l"/>
            <a:r>
              <a:rPr lang="en-US" b="1" dirty="0"/>
              <a:t>5. Random Forest</a:t>
            </a:r>
          </a:p>
          <a:p>
            <a:pPr algn="l"/>
            <a:r>
              <a:rPr lang="en-US" dirty="0"/>
              <a:t>- Split the data (</a:t>
            </a:r>
            <a:r>
              <a:rPr lang="en-US" dirty="0" err="1"/>
              <a:t>test_size</a:t>
            </a:r>
            <a:r>
              <a:rPr lang="en-US" dirty="0"/>
              <a:t>=0.2)</a:t>
            </a:r>
          </a:p>
          <a:p>
            <a:pPr marL="342900" indent="-342900" algn="l">
              <a:buFontTx/>
              <a:buChar char="-"/>
            </a:pPr>
            <a:r>
              <a:rPr lang="en-US" dirty="0"/>
              <a:t>Param = </a:t>
            </a:r>
            <a:r>
              <a:rPr lang="en-US" dirty="0" err="1"/>
              <a:t>max_depth</a:t>
            </a:r>
            <a:r>
              <a:rPr lang="en-US" dirty="0"/>
              <a:t>: [3, 5, None], </a:t>
            </a:r>
            <a:r>
              <a:rPr lang="en-US" dirty="0" err="1"/>
              <a:t>max_features</a:t>
            </a:r>
            <a:r>
              <a:rPr lang="en-US" dirty="0"/>
              <a:t>: ['sqrt', 'log2’], </a:t>
            </a:r>
            <a:r>
              <a:rPr lang="en-US" dirty="0" err="1"/>
              <a:t>max_samples</a:t>
            </a:r>
            <a:r>
              <a:rPr lang="en-US" dirty="0"/>
              <a:t>: [0.7, 1.0],</a:t>
            </a:r>
          </a:p>
          <a:p>
            <a:pPr algn="l"/>
            <a:r>
              <a:rPr lang="en-US" dirty="0" err="1"/>
              <a:t>min_samples_split</a:t>
            </a:r>
            <a:r>
              <a:rPr lang="en-US" dirty="0"/>
              <a:t>: [2, 3, 4], </a:t>
            </a:r>
            <a:r>
              <a:rPr lang="da-DK" dirty="0"/>
              <a:t>min_samples_leaf: [1, 2, 3], </a:t>
            </a:r>
            <a:r>
              <a:rPr lang="en-US" dirty="0" err="1"/>
              <a:t>n_estimators</a:t>
            </a:r>
            <a:r>
              <a:rPr lang="en-US" dirty="0"/>
              <a:t>: [300, 500]</a:t>
            </a:r>
            <a:endParaRPr lang="da-DK" dirty="0"/>
          </a:p>
          <a:p>
            <a:pPr algn="l"/>
            <a:r>
              <a:rPr lang="en-US" dirty="0"/>
              <a:t>- Cross-validation = 5</a:t>
            </a:r>
          </a:p>
          <a:p>
            <a:pPr marL="342900" indent="-342900" algn="l">
              <a:buFontTx/>
              <a:buChar char="-"/>
            </a:pPr>
            <a:r>
              <a:rPr lang="en-US" dirty="0"/>
              <a:t>Refit = </a:t>
            </a:r>
            <a:r>
              <a:rPr lang="en-US" dirty="0" err="1"/>
              <a:t>roc_auc</a:t>
            </a:r>
            <a:endParaRPr lang="en-US" dirty="0"/>
          </a:p>
          <a:p>
            <a:pPr marL="342900" indent="-342900" algn="l">
              <a:buFontTx/>
              <a:buChar char="-"/>
            </a:pPr>
            <a:endParaRPr lang="en-US" dirty="0"/>
          </a:p>
          <a:p>
            <a:pPr marL="342900" indent="-342900" algn="l">
              <a:buFontTx/>
              <a:buChar char="-"/>
            </a:pPr>
            <a:endParaRPr lang="en-US" dirty="0"/>
          </a:p>
          <a:p>
            <a:pPr marL="342900" indent="-342900" algn="l">
              <a:buFontTx/>
              <a:buChar char="-"/>
            </a:pPr>
            <a:endParaRPr lang="en-US" dirty="0"/>
          </a:p>
          <a:p>
            <a:pPr marL="342900" indent="-342900" algn="l">
              <a:buFontTx/>
              <a:buChar char="-"/>
            </a:pPr>
            <a:endParaRPr lang="en-US" dirty="0"/>
          </a:p>
          <a:p>
            <a:pPr marL="342900" indent="-342900" algn="l">
              <a:buFont typeface="Wingdings" panose="05000000000000000000" pitchFamily="2" charset="2"/>
              <a:buChar char="è"/>
            </a:pPr>
            <a:r>
              <a:rPr lang="en-US" dirty="0"/>
              <a:t>🎯 The Random Forest demonstrates </a:t>
            </a:r>
            <a:r>
              <a:rPr lang="en-US" b="1" dirty="0"/>
              <a:t>strong overall performance</a:t>
            </a:r>
            <a:r>
              <a:rPr lang="en-US" dirty="0"/>
              <a:t> on both the training and test sets. </a:t>
            </a:r>
          </a:p>
          <a:p>
            <a:pPr marL="342900" indent="-342900" algn="l">
              <a:buFont typeface="Wingdings" panose="05000000000000000000" pitchFamily="2" charset="2"/>
              <a:buChar char="è"/>
            </a:pPr>
            <a:endParaRPr lang="en-US" dirty="0"/>
          </a:p>
        </p:txBody>
      </p:sp>
      <p:pic>
        <p:nvPicPr>
          <p:cNvPr id="6" name="Picture 5">
            <a:extLst>
              <a:ext uri="{FF2B5EF4-FFF2-40B4-BE49-F238E27FC236}">
                <a16:creationId xmlns:a16="http://schemas.microsoft.com/office/drawing/2014/main" id="{702A8D2C-AF3B-6EFE-18EC-FC5A6E14FD91}"/>
              </a:ext>
            </a:extLst>
          </p:cNvPr>
          <p:cNvPicPr>
            <a:picLocks noChangeAspect="1"/>
          </p:cNvPicPr>
          <p:nvPr/>
        </p:nvPicPr>
        <p:blipFill>
          <a:blip r:embed="rId2"/>
          <a:stretch>
            <a:fillRect/>
          </a:stretch>
        </p:blipFill>
        <p:spPr>
          <a:xfrm>
            <a:off x="-75414" y="3418229"/>
            <a:ext cx="12267414" cy="1228165"/>
          </a:xfrm>
          <a:prstGeom prst="rect">
            <a:avLst/>
          </a:prstGeom>
        </p:spPr>
      </p:pic>
      <p:pic>
        <p:nvPicPr>
          <p:cNvPr id="8" name="Picture 7">
            <a:extLst>
              <a:ext uri="{FF2B5EF4-FFF2-40B4-BE49-F238E27FC236}">
                <a16:creationId xmlns:a16="http://schemas.microsoft.com/office/drawing/2014/main" id="{2B062ABA-7486-F81B-6003-109539802203}"/>
              </a:ext>
            </a:extLst>
          </p:cNvPr>
          <p:cNvPicPr>
            <a:picLocks noChangeAspect="1"/>
          </p:cNvPicPr>
          <p:nvPr/>
        </p:nvPicPr>
        <p:blipFill>
          <a:blip r:embed="rId3"/>
          <a:stretch>
            <a:fillRect/>
          </a:stretch>
        </p:blipFill>
        <p:spPr>
          <a:xfrm>
            <a:off x="0" y="4627540"/>
            <a:ext cx="12192000" cy="577609"/>
          </a:xfrm>
          <a:prstGeom prst="rect">
            <a:avLst/>
          </a:prstGeom>
        </p:spPr>
      </p:pic>
    </p:spTree>
    <p:extLst>
      <p:ext uri="{BB962C8B-B14F-4D97-AF65-F5344CB8AC3E}">
        <p14:creationId xmlns:p14="http://schemas.microsoft.com/office/powerpoint/2010/main" val="3617122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05C65-C816-7423-4921-F58CB0070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B7511-0048-9187-8D4E-E9E843315414}"/>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0BC00A25-6339-2B8C-7987-30A94EA5C57B}"/>
              </a:ext>
            </a:extLst>
          </p:cNvPr>
          <p:cNvSpPr>
            <a:spLocks noGrp="1"/>
          </p:cNvSpPr>
          <p:nvPr>
            <p:ph type="subTitle" idx="1"/>
          </p:nvPr>
        </p:nvSpPr>
        <p:spPr>
          <a:xfrm>
            <a:off x="0" y="746449"/>
            <a:ext cx="12192000" cy="6099539"/>
          </a:xfrm>
        </p:spPr>
        <p:txBody>
          <a:bodyPr>
            <a:normAutofit/>
          </a:bodyPr>
          <a:lstStyle/>
          <a:p>
            <a:pPr algn="l"/>
            <a:r>
              <a:rPr lang="en-US" b="1" dirty="0"/>
              <a:t>5. Random Forest</a:t>
            </a:r>
          </a:p>
          <a:p>
            <a:pPr algn="l"/>
            <a:endParaRPr lang="en-US" dirty="0"/>
          </a:p>
          <a:p>
            <a:pPr algn="l"/>
            <a:r>
              <a:rPr lang="en-US" dirty="0"/>
              <a:t>- The model’s behavior shows that </a:t>
            </a:r>
          </a:p>
          <a:p>
            <a:pPr algn="l"/>
            <a:r>
              <a:rPr lang="en-US" b="1" dirty="0" err="1"/>
              <a:t>Satisfaction_level</a:t>
            </a:r>
            <a:r>
              <a:rPr lang="en-US" b="1" dirty="0"/>
              <a:t>, workload, </a:t>
            </a:r>
          </a:p>
          <a:p>
            <a:pPr algn="l"/>
            <a:r>
              <a:rPr lang="en-US" b="1" dirty="0"/>
              <a:t>tenure</a:t>
            </a:r>
            <a:r>
              <a:rPr lang="en-US" dirty="0"/>
              <a:t> are the primary drivers of </a:t>
            </a:r>
          </a:p>
          <a:p>
            <a:pPr algn="l"/>
            <a:r>
              <a:rPr lang="en-US" dirty="0"/>
              <a:t>attrition prediction.</a:t>
            </a:r>
          </a:p>
          <a:p>
            <a:pPr algn="l"/>
            <a:r>
              <a:rPr lang="en-US" dirty="0"/>
              <a:t>- This insight can guide HR strategies</a:t>
            </a:r>
          </a:p>
          <a:p>
            <a:pPr algn="l"/>
            <a:r>
              <a:rPr lang="en-US" dirty="0"/>
              <a:t> toward improving </a:t>
            </a:r>
            <a:r>
              <a:rPr lang="en-US" b="1" dirty="0"/>
              <a:t>satisfaction</a:t>
            </a:r>
            <a:r>
              <a:rPr lang="en-US" dirty="0"/>
              <a:t> and </a:t>
            </a:r>
          </a:p>
          <a:p>
            <a:pPr algn="l"/>
            <a:r>
              <a:rPr lang="en-US" dirty="0"/>
              <a:t>managing </a:t>
            </a:r>
            <a:r>
              <a:rPr lang="en-US" b="1" dirty="0"/>
              <a:t>workload</a:t>
            </a:r>
            <a:r>
              <a:rPr lang="en-US" dirty="0"/>
              <a:t> distribution to </a:t>
            </a:r>
          </a:p>
          <a:p>
            <a:pPr algn="l"/>
            <a:r>
              <a:rPr lang="en-US" dirty="0"/>
              <a:t>reduce turnover.</a:t>
            </a:r>
          </a:p>
          <a:p>
            <a:pPr algn="l"/>
            <a:r>
              <a:rPr lang="en-US" dirty="0">
                <a:sym typeface="Wingdings" panose="05000000000000000000" pitchFamily="2" charset="2"/>
              </a:rPr>
              <a:t></a:t>
            </a:r>
            <a:r>
              <a:rPr lang="en-US" dirty="0">
                <a:highlight>
                  <a:srgbClr val="FFFF00"/>
                </a:highlight>
              </a:rPr>
              <a:t>⚠</a:t>
            </a:r>
            <a:r>
              <a:rPr lang="en-US" dirty="0">
                <a:sym typeface="Wingdings" panose="05000000000000000000" pitchFamily="2" charset="2"/>
              </a:rPr>
              <a:t> </a:t>
            </a:r>
            <a:r>
              <a:rPr lang="en-US" dirty="0"/>
              <a:t>When scaling HR analytics to larger employee datasets or running frequent retraining jobs, RF’s </a:t>
            </a:r>
            <a:r>
              <a:rPr lang="en-US" b="1" dirty="0"/>
              <a:t>runtime</a:t>
            </a:r>
            <a:r>
              <a:rPr lang="en-US" dirty="0"/>
              <a:t> cost becomes a </a:t>
            </a:r>
            <a:r>
              <a:rPr lang="en-US" b="1" dirty="0"/>
              <a:t>bottleneck</a:t>
            </a:r>
            <a:r>
              <a:rPr lang="en-US" dirty="0"/>
              <a:t>.</a:t>
            </a:r>
          </a:p>
          <a:p>
            <a:pPr marL="342900" indent="-342900" algn="l">
              <a:buFontTx/>
              <a:buChar char="-"/>
            </a:pPr>
            <a:endParaRPr lang="en-US" dirty="0"/>
          </a:p>
          <a:p>
            <a:pPr marL="342900" indent="-342900" algn="l">
              <a:buFont typeface="Wingdings" panose="05000000000000000000" pitchFamily="2" charset="2"/>
              <a:buChar char="è"/>
            </a:pPr>
            <a:endParaRPr lang="en-US" dirty="0"/>
          </a:p>
        </p:txBody>
      </p:sp>
      <p:pic>
        <p:nvPicPr>
          <p:cNvPr id="5" name="Picture 4">
            <a:extLst>
              <a:ext uri="{FF2B5EF4-FFF2-40B4-BE49-F238E27FC236}">
                <a16:creationId xmlns:a16="http://schemas.microsoft.com/office/drawing/2014/main" id="{7CC07525-BB74-F4E0-9BBD-962341DC38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6524" y="1584082"/>
            <a:ext cx="7365476" cy="3476759"/>
          </a:xfrm>
          <a:prstGeom prst="rect">
            <a:avLst/>
          </a:prstGeom>
        </p:spPr>
      </p:pic>
    </p:spTree>
    <p:extLst>
      <p:ext uri="{BB962C8B-B14F-4D97-AF65-F5344CB8AC3E}">
        <p14:creationId xmlns:p14="http://schemas.microsoft.com/office/powerpoint/2010/main" val="1081351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4ED59-CA7C-5852-2019-787162DB17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2F990-AF52-05CC-B877-61AA5DCDF763}"/>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63227CF7-C8A5-ED5A-2BDA-564D999A9D73}"/>
              </a:ext>
            </a:extLst>
          </p:cNvPr>
          <p:cNvSpPr>
            <a:spLocks noGrp="1"/>
          </p:cNvSpPr>
          <p:nvPr>
            <p:ph type="subTitle" idx="1"/>
          </p:nvPr>
        </p:nvSpPr>
        <p:spPr>
          <a:xfrm>
            <a:off x="0" y="746449"/>
            <a:ext cx="12192000" cy="6099539"/>
          </a:xfrm>
        </p:spPr>
        <p:txBody>
          <a:bodyPr>
            <a:normAutofit/>
          </a:bodyPr>
          <a:lstStyle/>
          <a:p>
            <a:pPr algn="l"/>
            <a:r>
              <a:rPr lang="en-US" b="1" dirty="0"/>
              <a:t>6. </a:t>
            </a:r>
            <a:r>
              <a:rPr lang="en-US" b="1" dirty="0" err="1"/>
              <a:t>XGBoost</a:t>
            </a:r>
            <a:endParaRPr lang="en-US" b="1" dirty="0"/>
          </a:p>
          <a:p>
            <a:pPr algn="l"/>
            <a:r>
              <a:rPr lang="en-US" dirty="0"/>
              <a:t>- Split the data (</a:t>
            </a:r>
            <a:r>
              <a:rPr lang="en-US" dirty="0" err="1"/>
              <a:t>test_size</a:t>
            </a:r>
            <a:r>
              <a:rPr lang="en-US" dirty="0"/>
              <a:t>=0.2)</a:t>
            </a:r>
          </a:p>
          <a:p>
            <a:pPr algn="l"/>
            <a:r>
              <a:rPr lang="en-US" dirty="0"/>
              <a:t>- Param = </a:t>
            </a:r>
            <a:r>
              <a:rPr lang="en-US" dirty="0" err="1"/>
              <a:t>n_estimators</a:t>
            </a:r>
            <a:r>
              <a:rPr lang="en-US" dirty="0"/>
              <a:t>: [200, 300]</a:t>
            </a:r>
            <a:r>
              <a:rPr lang="da-DK" dirty="0"/>
              <a:t>,</a:t>
            </a:r>
            <a:r>
              <a:rPr lang="en-US" dirty="0"/>
              <a:t> </a:t>
            </a:r>
            <a:r>
              <a:rPr lang="en-US" dirty="0" err="1"/>
              <a:t>learning_rate</a:t>
            </a:r>
            <a:r>
              <a:rPr lang="en-US" dirty="0"/>
              <a:t>: [0.01, 0.1],</a:t>
            </a:r>
            <a:r>
              <a:rPr lang="da-DK" dirty="0"/>
              <a:t> </a:t>
            </a:r>
            <a:r>
              <a:rPr lang="en-US" dirty="0" err="1"/>
              <a:t>max_depth</a:t>
            </a:r>
            <a:r>
              <a:rPr lang="en-US" dirty="0"/>
              <a:t>: [3, 5], subsample: [0.7, 1.0], </a:t>
            </a:r>
            <a:r>
              <a:rPr lang="en-US" dirty="0" err="1"/>
              <a:t>colsample_bytree</a:t>
            </a:r>
            <a:r>
              <a:rPr lang="en-US" dirty="0"/>
              <a:t>: [0.7, 1.0], gamma: [0, 1]</a:t>
            </a:r>
            <a:endParaRPr lang="da-DK" dirty="0"/>
          </a:p>
          <a:p>
            <a:pPr algn="l"/>
            <a:r>
              <a:rPr lang="en-US" dirty="0"/>
              <a:t>- Cross-validation = 5</a:t>
            </a:r>
          </a:p>
          <a:p>
            <a:pPr algn="l"/>
            <a:r>
              <a:rPr lang="en-US" dirty="0"/>
              <a:t>- Evaluate metric= </a:t>
            </a:r>
            <a:r>
              <a:rPr lang="en-US" dirty="0" err="1"/>
              <a:t>logloss</a:t>
            </a:r>
            <a:endParaRPr lang="en-US" dirty="0"/>
          </a:p>
          <a:p>
            <a:pPr algn="l"/>
            <a:r>
              <a:rPr lang="en-US" dirty="0"/>
              <a:t>- Refit = </a:t>
            </a:r>
            <a:r>
              <a:rPr lang="en-US" dirty="0" err="1"/>
              <a:t>roc_auc</a:t>
            </a:r>
            <a:endParaRPr lang="en-US" dirty="0"/>
          </a:p>
          <a:p>
            <a:pPr marL="342900" indent="-342900" algn="l">
              <a:buFontTx/>
              <a:buChar char="-"/>
            </a:pPr>
            <a:endParaRPr lang="en-US" dirty="0"/>
          </a:p>
          <a:p>
            <a:pPr marL="342900" indent="-342900" algn="l">
              <a:buFontTx/>
              <a:buChar char="-"/>
            </a:pPr>
            <a:endParaRPr lang="en-US" dirty="0"/>
          </a:p>
          <a:p>
            <a:pPr marL="342900" indent="-342900" algn="l">
              <a:buFontTx/>
              <a:buChar char="-"/>
            </a:pPr>
            <a:endParaRPr lang="en-US" dirty="0"/>
          </a:p>
          <a:p>
            <a:pPr marL="342900" indent="-342900" algn="l">
              <a:buFontTx/>
              <a:buChar char="-"/>
            </a:pPr>
            <a:endParaRPr lang="en-US" dirty="0"/>
          </a:p>
          <a:p>
            <a:pPr algn="l"/>
            <a:r>
              <a:rPr lang="en-US" dirty="0">
                <a:sym typeface="Wingdings" panose="05000000000000000000" pitchFamily="2" charset="2"/>
              </a:rPr>
              <a:t> </a:t>
            </a:r>
            <a:r>
              <a:rPr lang="en-US" dirty="0" err="1"/>
              <a:t>XGBoost</a:t>
            </a:r>
            <a:r>
              <a:rPr lang="en-US" dirty="0"/>
              <a:t> offers </a:t>
            </a:r>
            <a:r>
              <a:rPr lang="en-US" b="1" dirty="0"/>
              <a:t>superior predictive capability</a:t>
            </a:r>
            <a:r>
              <a:rPr lang="en-US" dirty="0"/>
              <a:t> compared to Random Forest, particularly in terms of AUC, F1 &amp; Recall.</a:t>
            </a:r>
          </a:p>
          <a:p>
            <a:pPr algn="l"/>
            <a:endParaRPr lang="en-US" dirty="0"/>
          </a:p>
          <a:p>
            <a:pPr marL="342900" indent="-342900" algn="l">
              <a:buFont typeface="Wingdings" panose="05000000000000000000" pitchFamily="2" charset="2"/>
              <a:buChar char="è"/>
            </a:pPr>
            <a:endParaRPr lang="en-US" dirty="0"/>
          </a:p>
        </p:txBody>
      </p:sp>
      <p:pic>
        <p:nvPicPr>
          <p:cNvPr id="8" name="Picture 7">
            <a:extLst>
              <a:ext uri="{FF2B5EF4-FFF2-40B4-BE49-F238E27FC236}">
                <a16:creationId xmlns:a16="http://schemas.microsoft.com/office/drawing/2014/main" id="{3109C504-FE3A-759A-19F2-7D328306036B}"/>
              </a:ext>
            </a:extLst>
          </p:cNvPr>
          <p:cNvPicPr>
            <a:picLocks noChangeAspect="1"/>
          </p:cNvPicPr>
          <p:nvPr/>
        </p:nvPicPr>
        <p:blipFill>
          <a:blip r:embed="rId2"/>
          <a:stretch>
            <a:fillRect/>
          </a:stretch>
        </p:blipFill>
        <p:spPr>
          <a:xfrm>
            <a:off x="0" y="3728742"/>
            <a:ext cx="12192000" cy="1285875"/>
          </a:xfrm>
          <a:prstGeom prst="rect">
            <a:avLst/>
          </a:prstGeom>
        </p:spPr>
      </p:pic>
      <p:pic>
        <p:nvPicPr>
          <p:cNvPr id="10" name="Picture 9">
            <a:extLst>
              <a:ext uri="{FF2B5EF4-FFF2-40B4-BE49-F238E27FC236}">
                <a16:creationId xmlns:a16="http://schemas.microsoft.com/office/drawing/2014/main" id="{B7C86AB1-9177-FBF9-732F-53076F1F0C05}"/>
              </a:ext>
            </a:extLst>
          </p:cNvPr>
          <p:cNvPicPr>
            <a:picLocks noChangeAspect="1"/>
          </p:cNvPicPr>
          <p:nvPr/>
        </p:nvPicPr>
        <p:blipFill>
          <a:blip r:embed="rId3"/>
          <a:stretch>
            <a:fillRect/>
          </a:stretch>
        </p:blipFill>
        <p:spPr>
          <a:xfrm>
            <a:off x="0" y="5014617"/>
            <a:ext cx="12192000" cy="657225"/>
          </a:xfrm>
          <a:prstGeom prst="rect">
            <a:avLst/>
          </a:prstGeom>
        </p:spPr>
      </p:pic>
    </p:spTree>
    <p:extLst>
      <p:ext uri="{BB962C8B-B14F-4D97-AF65-F5344CB8AC3E}">
        <p14:creationId xmlns:p14="http://schemas.microsoft.com/office/powerpoint/2010/main" val="780906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12D92-E2AD-7F61-91FC-3D878ABAD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C4775-27E6-6949-EB35-5DD04B6D5DEC}"/>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1592A451-C876-0543-B202-5EF4DCA3EED0}"/>
              </a:ext>
            </a:extLst>
          </p:cNvPr>
          <p:cNvSpPr>
            <a:spLocks noGrp="1"/>
          </p:cNvSpPr>
          <p:nvPr>
            <p:ph type="subTitle" idx="1"/>
          </p:nvPr>
        </p:nvSpPr>
        <p:spPr>
          <a:xfrm>
            <a:off x="0" y="746449"/>
            <a:ext cx="12192000" cy="6099539"/>
          </a:xfrm>
        </p:spPr>
        <p:txBody>
          <a:bodyPr>
            <a:normAutofit/>
          </a:bodyPr>
          <a:lstStyle/>
          <a:p>
            <a:pPr algn="l"/>
            <a:r>
              <a:rPr lang="en-US" b="1" dirty="0"/>
              <a:t>6. </a:t>
            </a:r>
            <a:r>
              <a:rPr lang="en-US" b="1" dirty="0" err="1"/>
              <a:t>XGBoost</a:t>
            </a:r>
            <a:endParaRPr lang="en-US" b="1" dirty="0"/>
          </a:p>
          <a:p>
            <a:pPr algn="l"/>
            <a:endParaRPr lang="en-US" dirty="0"/>
          </a:p>
          <a:p>
            <a:pPr algn="l"/>
            <a:r>
              <a:rPr lang="en-US" dirty="0"/>
              <a:t>- </a:t>
            </a:r>
            <a:r>
              <a:rPr lang="en-US" dirty="0" err="1"/>
              <a:t>XGBoost</a:t>
            </a:r>
            <a:r>
              <a:rPr lang="en-US" dirty="0"/>
              <a:t> emphasizes a combination </a:t>
            </a:r>
          </a:p>
          <a:p>
            <a:pPr algn="l"/>
            <a:r>
              <a:rPr lang="en-US" dirty="0"/>
              <a:t>of </a:t>
            </a:r>
            <a:r>
              <a:rPr lang="en-US" b="1" dirty="0"/>
              <a:t>tenure, satisfaction </a:t>
            </a:r>
            <a:r>
              <a:rPr lang="en-US" dirty="0"/>
              <a:t>&amp;</a:t>
            </a:r>
            <a:r>
              <a:rPr lang="en-US" b="1" dirty="0"/>
              <a:t> workload </a:t>
            </a:r>
          </a:p>
          <a:p>
            <a:pPr algn="l"/>
            <a:r>
              <a:rPr lang="en-US" b="1" dirty="0"/>
              <a:t>health</a:t>
            </a:r>
            <a:r>
              <a:rPr lang="en-US" dirty="0"/>
              <a:t> as the primary determinants of</a:t>
            </a:r>
          </a:p>
          <a:p>
            <a:pPr algn="l"/>
            <a:r>
              <a:rPr lang="en-US" dirty="0"/>
              <a:t>employee turnover.</a:t>
            </a:r>
          </a:p>
          <a:p>
            <a:pPr algn="l"/>
            <a:r>
              <a:rPr lang="en-US" dirty="0"/>
              <a:t>- These insights guide HR toward </a:t>
            </a:r>
          </a:p>
          <a:p>
            <a:pPr algn="l"/>
            <a:r>
              <a:rPr lang="en-US" dirty="0"/>
              <a:t>focusing on:</a:t>
            </a:r>
          </a:p>
          <a:p>
            <a:pPr algn="l"/>
            <a:r>
              <a:rPr lang="en-US" dirty="0"/>
              <a:t>+ Career development for </a:t>
            </a:r>
            <a:r>
              <a:rPr lang="en-US" b="1" dirty="0"/>
              <a:t>long-tenure</a:t>
            </a:r>
            <a:r>
              <a:rPr lang="en-US" dirty="0"/>
              <a:t> </a:t>
            </a:r>
          </a:p>
          <a:p>
            <a:pPr algn="l"/>
            <a:r>
              <a:rPr lang="en-US" dirty="0"/>
              <a:t>employees</a:t>
            </a:r>
          </a:p>
          <a:p>
            <a:pPr algn="l"/>
            <a:r>
              <a:rPr lang="en-US" dirty="0"/>
              <a:t>+ </a:t>
            </a:r>
            <a:r>
              <a:rPr lang="en-US" b="1" dirty="0"/>
              <a:t>Satisfaction</a:t>
            </a:r>
            <a:r>
              <a:rPr lang="en-US" dirty="0"/>
              <a:t> improvement initiatives</a:t>
            </a:r>
          </a:p>
          <a:p>
            <a:pPr algn="l"/>
            <a:r>
              <a:rPr lang="en-US" dirty="0"/>
              <a:t>+ </a:t>
            </a:r>
            <a:r>
              <a:rPr lang="en-US" b="1" dirty="0"/>
              <a:t>Workload </a:t>
            </a:r>
            <a:r>
              <a:rPr lang="en-US" dirty="0"/>
              <a:t>balancing to prevent burnout</a:t>
            </a:r>
          </a:p>
          <a:p>
            <a:pPr algn="l"/>
            <a:endParaRPr lang="en-US" dirty="0"/>
          </a:p>
        </p:txBody>
      </p:sp>
      <p:pic>
        <p:nvPicPr>
          <p:cNvPr id="5" name="Picture 4">
            <a:extLst>
              <a:ext uri="{FF2B5EF4-FFF2-40B4-BE49-F238E27FC236}">
                <a16:creationId xmlns:a16="http://schemas.microsoft.com/office/drawing/2014/main" id="{869609CA-621E-DD86-F67A-315E93580F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0219" y="1501406"/>
            <a:ext cx="7261781" cy="3855187"/>
          </a:xfrm>
          <a:prstGeom prst="rect">
            <a:avLst/>
          </a:prstGeom>
        </p:spPr>
      </p:pic>
    </p:spTree>
    <p:extLst>
      <p:ext uri="{BB962C8B-B14F-4D97-AF65-F5344CB8AC3E}">
        <p14:creationId xmlns:p14="http://schemas.microsoft.com/office/powerpoint/2010/main" val="244920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C0F5C-3325-929A-304F-993B2BDFE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7CE1D-9D16-72A7-B459-9B67972C2C74}"/>
              </a:ext>
            </a:extLst>
          </p:cNvPr>
          <p:cNvSpPr>
            <a:spLocks noGrp="1"/>
          </p:cNvSpPr>
          <p:nvPr>
            <p:ph type="ctrTitle"/>
          </p:nvPr>
        </p:nvSpPr>
        <p:spPr>
          <a:xfrm>
            <a:off x="1524000" y="12012"/>
            <a:ext cx="9144000" cy="865057"/>
          </a:xfrm>
        </p:spPr>
        <p:txBody>
          <a:bodyPr>
            <a:normAutofit fontScale="90000"/>
          </a:bodyPr>
          <a:lstStyle/>
          <a:p>
            <a:r>
              <a:rPr lang="en-US" b="1" dirty="0">
                <a:solidFill>
                  <a:srgbClr val="0070C0"/>
                </a:solidFill>
              </a:rPr>
              <a:t>Employee Churn Analysis</a:t>
            </a:r>
            <a:endParaRPr lang="en-US" dirty="0"/>
          </a:p>
        </p:txBody>
      </p:sp>
      <p:sp>
        <p:nvSpPr>
          <p:cNvPr id="3" name="Subtitle 2">
            <a:extLst>
              <a:ext uri="{FF2B5EF4-FFF2-40B4-BE49-F238E27FC236}">
                <a16:creationId xmlns:a16="http://schemas.microsoft.com/office/drawing/2014/main" id="{16CA3FAD-20F0-A69C-D3F0-AC889D3B73DA}"/>
              </a:ext>
            </a:extLst>
          </p:cNvPr>
          <p:cNvSpPr>
            <a:spLocks noGrp="1"/>
          </p:cNvSpPr>
          <p:nvPr>
            <p:ph type="subTitle" idx="1"/>
          </p:nvPr>
        </p:nvSpPr>
        <p:spPr>
          <a:xfrm>
            <a:off x="0" y="746449"/>
            <a:ext cx="12192000" cy="6099539"/>
          </a:xfrm>
        </p:spPr>
        <p:txBody>
          <a:bodyPr>
            <a:normAutofit/>
          </a:bodyPr>
          <a:lstStyle/>
          <a:p>
            <a:pPr algn="l"/>
            <a:r>
              <a:rPr lang="en-US" b="1" dirty="0"/>
              <a:t>6. </a:t>
            </a:r>
            <a:r>
              <a:rPr lang="en-US" b="1" dirty="0" err="1"/>
              <a:t>XGBoost</a:t>
            </a:r>
            <a:endParaRPr lang="en-US" b="1"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sym typeface="Wingdings" panose="05000000000000000000" pitchFamily="2" charset="2"/>
            </a:endParaRPr>
          </a:p>
          <a:p>
            <a:pPr algn="l"/>
            <a:r>
              <a:rPr lang="en-US" dirty="0">
                <a:sym typeface="Wingdings" panose="05000000000000000000" pitchFamily="2" charset="2"/>
              </a:rPr>
              <a:t></a:t>
            </a:r>
            <a:r>
              <a:rPr lang="en-US" dirty="0"/>
              <a:t> 🏆 </a:t>
            </a:r>
            <a:r>
              <a:rPr lang="en-US" dirty="0" err="1"/>
              <a:t>XGBoost</a:t>
            </a:r>
            <a:r>
              <a:rPr lang="en-US" dirty="0"/>
              <a:t> is the most </a:t>
            </a:r>
            <a:r>
              <a:rPr lang="en-US" b="1" dirty="0"/>
              <a:t>effective</a:t>
            </a:r>
            <a:r>
              <a:rPr lang="en-US" dirty="0"/>
              <a:t> and </a:t>
            </a:r>
            <a:r>
              <a:rPr lang="en-US" b="1" dirty="0"/>
              <a:t>reliable</a:t>
            </a:r>
            <a:r>
              <a:rPr lang="en-US" dirty="0"/>
              <a:t> model for predicting employee turnover, offering the </a:t>
            </a:r>
            <a:r>
              <a:rPr lang="en-US" b="1" dirty="0"/>
              <a:t>strongest</a:t>
            </a:r>
            <a:r>
              <a:rPr lang="en-US" dirty="0"/>
              <a:t> predictive power and best </a:t>
            </a:r>
            <a:r>
              <a:rPr lang="en-US" b="1" dirty="0"/>
              <a:t>balance</a:t>
            </a:r>
            <a:r>
              <a:rPr lang="en-US" dirty="0"/>
              <a:t> between accuracy, recall, and </a:t>
            </a:r>
            <a:r>
              <a:rPr lang="en-US" b="1" dirty="0"/>
              <a:t>computational efficiency</a:t>
            </a:r>
            <a:r>
              <a:rPr lang="en-US" dirty="0"/>
              <a:t>.</a:t>
            </a:r>
          </a:p>
        </p:txBody>
      </p:sp>
      <p:pic>
        <p:nvPicPr>
          <p:cNvPr id="6" name="Picture 5">
            <a:extLst>
              <a:ext uri="{FF2B5EF4-FFF2-40B4-BE49-F238E27FC236}">
                <a16:creationId xmlns:a16="http://schemas.microsoft.com/office/drawing/2014/main" id="{1A92A0F1-3586-CE12-F6F8-3690510F51D3}"/>
              </a:ext>
            </a:extLst>
          </p:cNvPr>
          <p:cNvPicPr>
            <a:picLocks noChangeAspect="1"/>
          </p:cNvPicPr>
          <p:nvPr/>
        </p:nvPicPr>
        <p:blipFill>
          <a:blip r:embed="rId2"/>
          <a:stretch>
            <a:fillRect/>
          </a:stretch>
        </p:blipFill>
        <p:spPr>
          <a:xfrm>
            <a:off x="0" y="1555799"/>
            <a:ext cx="12192000" cy="2790825"/>
          </a:xfrm>
          <a:prstGeom prst="rect">
            <a:avLst/>
          </a:prstGeom>
        </p:spPr>
      </p:pic>
    </p:spTree>
    <p:extLst>
      <p:ext uri="{BB962C8B-B14F-4D97-AF65-F5344CB8AC3E}">
        <p14:creationId xmlns:p14="http://schemas.microsoft.com/office/powerpoint/2010/main" val="1157733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1062</Words>
  <Application>Microsoft Office PowerPoint</Application>
  <PresentationFormat>Widescreen</PresentationFormat>
  <Paragraphs>126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Office Theme</vt:lpstr>
      <vt:lpstr>Employee Churn Analysis</vt:lpstr>
      <vt:lpstr>Employee Churn Analysis</vt:lpstr>
      <vt:lpstr>Employee Churn Analysis</vt:lpstr>
      <vt:lpstr>Employee Churn Analysis</vt:lpstr>
      <vt:lpstr>Employee Churn Analysis</vt:lpstr>
      <vt:lpstr>Employee Churn Analysis</vt:lpstr>
      <vt:lpstr>Employee Churn Analysis</vt:lpstr>
      <vt:lpstr>Employee Churn Analysis</vt:lpstr>
      <vt:lpstr>Employee Churn Analysis</vt:lpstr>
      <vt:lpstr>Employee Churn Analysis</vt:lpstr>
      <vt:lpstr>Employee Churn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Thiện Nguyễn Hoàng</dc:creator>
  <cp:lastModifiedBy>Thiện Nguyễn Hoàng</cp:lastModifiedBy>
  <cp:revision>47</cp:revision>
  <dcterms:created xsi:type="dcterms:W3CDTF">2025-12-05T11:56:45Z</dcterms:created>
  <dcterms:modified xsi:type="dcterms:W3CDTF">2025-12-05T16:27:37Z</dcterms:modified>
</cp:coreProperties>
</file>